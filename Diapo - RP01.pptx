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Gelasio" panose="020B0604020202020204" charset="0"/>
      <p:regular r:id="rId12"/>
    </p:embeddedFont>
    <p:embeddedFont>
      <p:font typeface="Gelasio Semi Bold" panose="020B0604020202020204" charset="0"/>
      <p:regular r:id="rId13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605" y="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5979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EE8D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35088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Modernisation de l'Infrastructure Réseau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793790" y="4108609"/>
            <a:ext cx="3209925" cy="426244"/>
          </a:xfrm>
          <a:prstGeom prst="roundRect">
            <a:avLst>
              <a:gd name="adj" fmla="val 6386"/>
            </a:avLst>
          </a:prstGeom>
          <a:solidFill>
            <a:srgbClr val="ECE6DF"/>
          </a:solidFill>
          <a:ln/>
        </p:spPr>
      </p:sp>
      <p:sp>
        <p:nvSpPr>
          <p:cNvPr id="6" name="Text 3"/>
          <p:cNvSpPr/>
          <p:nvPr/>
        </p:nvSpPr>
        <p:spPr>
          <a:xfrm>
            <a:off x="929878" y="4176593"/>
            <a:ext cx="293774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IRIS NICE — PROJET TECHNIQUE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93790" y="479000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Conception et déploiement d'une infrastructure réseau sécurisée, segmentée et supervisée — intégrant les standards professionnels actuels en matière de réseau, d'identité et d'automatisation.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EE8D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751" y="594241"/>
            <a:ext cx="5280779" cy="7041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9376" y="641747"/>
            <a:ext cx="7698105" cy="642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Contexte et Objectifs du Projet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19376" y="1563410"/>
            <a:ext cx="7705249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L'audit initial révèle un </a:t>
            </a:r>
            <a:r>
              <a:rPr lang="en-US" sz="16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réseau plat sans contrôle d'accès</a:t>
            </a: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exposant l'établissement à des risques critiques. Quatre axes structurent la modernisation.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19376" y="2399943"/>
            <a:ext cx="7705249" cy="1157288"/>
          </a:xfrm>
          <a:prstGeom prst="roundRect">
            <a:avLst>
              <a:gd name="adj" fmla="val 2664"/>
            </a:avLst>
          </a:prstGeom>
          <a:solidFill>
            <a:srgbClr val="EEE8DD"/>
          </a:solidFill>
          <a:ln/>
        </p:spPr>
      </p:sp>
      <p:sp>
        <p:nvSpPr>
          <p:cNvPr id="7" name="Text 4"/>
          <p:cNvSpPr/>
          <p:nvPr/>
        </p:nvSpPr>
        <p:spPr>
          <a:xfrm>
            <a:off x="924878" y="2605445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Segmentation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24878" y="3038237"/>
            <a:ext cx="7294245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Découpage en VLANs pour isoler les flux et contenir les menaces.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19376" y="3743444"/>
            <a:ext cx="7705249" cy="1157288"/>
          </a:xfrm>
          <a:prstGeom prst="roundRect">
            <a:avLst>
              <a:gd name="adj" fmla="val 2664"/>
            </a:avLst>
          </a:prstGeom>
          <a:solidFill>
            <a:srgbClr val="EEE8DD"/>
          </a:solidFill>
          <a:ln/>
        </p:spPr>
      </p:sp>
      <p:sp>
        <p:nvSpPr>
          <p:cNvPr id="10" name="Text 7"/>
          <p:cNvSpPr/>
          <p:nvPr/>
        </p:nvSpPr>
        <p:spPr>
          <a:xfrm>
            <a:off x="924878" y="3948946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Authentification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24878" y="4381738"/>
            <a:ext cx="7294245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Contrôle d'accès centralisé via annuaire et protocole 802.1X.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19376" y="5086945"/>
            <a:ext cx="7705249" cy="1157288"/>
          </a:xfrm>
          <a:prstGeom prst="roundRect">
            <a:avLst>
              <a:gd name="adj" fmla="val 2664"/>
            </a:avLst>
          </a:prstGeom>
          <a:solidFill>
            <a:srgbClr val="EEE8DD"/>
          </a:solidFill>
          <a:ln/>
        </p:spPr>
      </p:sp>
      <p:sp>
        <p:nvSpPr>
          <p:cNvPr id="13" name="Text 10"/>
          <p:cNvSpPr/>
          <p:nvPr/>
        </p:nvSpPr>
        <p:spPr>
          <a:xfrm>
            <a:off x="924878" y="5292447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Supervision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924878" y="5725239"/>
            <a:ext cx="7294245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Monitoring temps réel des équipements et services.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19376" y="6430447"/>
            <a:ext cx="7705249" cy="1157288"/>
          </a:xfrm>
          <a:prstGeom prst="roundRect">
            <a:avLst>
              <a:gd name="adj" fmla="val 2664"/>
            </a:avLst>
          </a:prstGeom>
          <a:solidFill>
            <a:srgbClr val="EEE8DD"/>
          </a:solidFill>
          <a:ln/>
        </p:spPr>
      </p:sp>
      <p:sp>
        <p:nvSpPr>
          <p:cNvPr id="16" name="Text 13"/>
          <p:cNvSpPr/>
          <p:nvPr/>
        </p:nvSpPr>
        <p:spPr>
          <a:xfrm>
            <a:off x="924878" y="6635948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Automatisation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924878" y="7068741"/>
            <a:ext cx="7294245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Déploiement reproductible sans erreur humaine.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683181"/>
            <a:ext cx="10383202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Architecture Physique et Segmentation</a:t>
            </a:r>
            <a:endParaRPr lang="en-US" sz="4250" dirty="0"/>
          </a:p>
        </p:txBody>
      </p:sp>
      <p:sp>
        <p:nvSpPr>
          <p:cNvPr id="3" name="Shape 1"/>
          <p:cNvSpPr/>
          <p:nvPr/>
        </p:nvSpPr>
        <p:spPr>
          <a:xfrm>
            <a:off x="756642" y="1770936"/>
            <a:ext cx="3120152" cy="415052"/>
          </a:xfrm>
          <a:prstGeom prst="roundRect">
            <a:avLst>
              <a:gd name="adj" fmla="val 6251"/>
            </a:avLst>
          </a:prstGeom>
          <a:noFill/>
          <a:ln w="7620">
            <a:solidFill>
              <a:srgbClr val="D3C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3921" y="1843326"/>
            <a:ext cx="2845594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D3C5B6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TOPOLOGIE ROUTER-ON-A-STICK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539859" y="2623780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Matériel Cisco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5539859" y="3167539"/>
            <a:ext cx="8341519" cy="747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Routeur ISR 1941W</a:t>
            </a: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NAT et routage inter-VLAN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Switch 2960-S</a:t>
            </a: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Commutation et ports d'accès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539859" y="4121110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Les 6 VLANs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5539859" y="4664869"/>
            <a:ext cx="8341519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Un </a:t>
            </a:r>
            <a:r>
              <a:rPr lang="en-US" sz="17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VLAN</a:t>
            </a: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(</a:t>
            </a:r>
            <a:r>
              <a:rPr lang="en-US" sz="1700" i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Virtual Local Area Network</a:t>
            </a: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) est un réseau logique isolé au sein d'un même réseau physique.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539859" y="5525810"/>
            <a:ext cx="8341519" cy="747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Étudiants · Profs · Administration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Guest · Management · Quarantaine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539859" y="6479381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Dualité Serveurs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5539859" y="7023140"/>
            <a:ext cx="8341519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Windows Server 2022 (identités) + Linux (services Docker).</a:t>
            </a:r>
            <a:endParaRPr lang="en-US" sz="1700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BA210CC2-789B-E694-B801-69987AC78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99" y="2258378"/>
            <a:ext cx="4178641" cy="55939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54831"/>
            <a:ext cx="9129355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Annuaire Centralisé — mediaschool.local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1079183" y="2868335"/>
            <a:ext cx="2923818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Structure Active Directory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1079183" y="3294697"/>
            <a:ext cx="6015395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Organisation hiérarchique en </a:t>
            </a:r>
            <a:r>
              <a:rPr lang="en-US" sz="14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Unités d'Organisation (OUs)</a:t>
            </a: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pour une gestion granulaire des objets.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79183" y="3943826"/>
            <a:ext cx="6015395" cy="56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OUs :</a:t>
            </a: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Utilisateurs, Ordinateurs, Serveurs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Groupes de sécurité :</a:t>
            </a: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Étudiants, Profs, Administration, 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79183" y="4675703"/>
            <a:ext cx="6015395" cy="1448157"/>
          </a:xfrm>
          <a:prstGeom prst="roundRect">
            <a:avLst>
              <a:gd name="adj" fmla="val 1872"/>
            </a:avLst>
          </a:prstGeom>
          <a:solidFill>
            <a:srgbClr val="B6D6F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919" y="4926211"/>
            <a:ext cx="225862" cy="1807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66518" y="4864775"/>
            <a:ext cx="5247323" cy="1039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FGPP</a:t>
            </a:r>
            <a:r>
              <a:rPr lang="en-US" sz="14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(</a:t>
            </a:r>
            <a:r>
              <a:rPr lang="en-US" sz="1400" i="1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Fine-Grained Password Policies</a:t>
            </a:r>
            <a:r>
              <a:rPr lang="en-US" sz="14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) : politiques de mots de passe différenciées par groupe AD, permettant d'appliquer des exigences distinctes (longueur, complexité, expiration) selon le profil utilisateur.     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205" y="1497449"/>
            <a:ext cx="6015395" cy="6015395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205" y="1497449"/>
            <a:ext cx="6015395" cy="60153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68291" y="519113"/>
            <a:ext cx="9455229" cy="52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Sécurisation Dynamique via 802.1X / RADIUS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9239" y="1284208"/>
            <a:ext cx="7751802" cy="58265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05140" y="3752830"/>
            <a:ext cx="1413712" cy="1293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Flux d'authentification 802.1X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719961" y="5443646"/>
            <a:ext cx="2103148" cy="646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Authenticator (switch Cisco)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719961" y="6182109"/>
            <a:ext cx="2103148" cy="44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Relaye les requêtes vers le NPS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789210" y="5443646"/>
            <a:ext cx="2103148" cy="646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Serveur NPS (RADIUS)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789210" y="6182109"/>
            <a:ext cx="2103148" cy="44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Vérifie dans l'AD et retourne VLAN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225851" y="1460577"/>
            <a:ext cx="2160616" cy="969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Supplicant (poste utilisateur)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225851" y="2522298"/>
            <a:ext cx="2160616" cy="44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Envoie identifiants au switch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568291" y="7248287"/>
            <a:ext cx="11493698" cy="462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Le protocole </a:t>
            </a:r>
            <a:r>
              <a:rPr lang="en-US" sz="13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802.1X</a:t>
            </a: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impose une authentification avant tout accès réseau. Le switch (</a:t>
            </a:r>
            <a:r>
              <a:rPr lang="en-US" sz="1300" i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Authenticator</a:t>
            </a: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) interroge le </a:t>
            </a:r>
            <a:r>
              <a:rPr lang="en-US" sz="13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NPS</a:t>
            </a: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(</a:t>
            </a:r>
            <a:r>
              <a:rPr lang="en-US" sz="1300" i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Network Policy Server</a:t>
            </a: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), service RADIUS de Microsoft, qui valide les identifiants dans l'Active Directory et attribue dynamiquement le VLAN selon le profil de l'utilisateur.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41252"/>
            <a:ext cx="1072360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Écosystème Linux et Conteneurisation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0365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Les services applicatifs sont déployés sous </a:t>
            </a: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Docker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sur un hôte Linux, garantissant isolation, portabilité et facilité de maintenance.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584615"/>
            <a:ext cx="1341120" cy="1341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52092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GLPI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5699641"/>
            <a:ext cx="304800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Gestion des tickets et du parc informatique.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278" y="3584615"/>
            <a:ext cx="1341120" cy="13411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25278" y="52092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Nextcloud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125278" y="5699641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Partage de fichiers et collaboration sécurisée.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884" y="3584615"/>
            <a:ext cx="1341120" cy="13411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56884" y="52092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WireGuard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7456884" y="5699641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VPN moderne, léger et performant pour les accès distants.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491" y="3584615"/>
            <a:ext cx="1341120" cy="13411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788491" y="5209223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Prometheus / Grafana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0788491" y="6053971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Supervision CPU, RAM, trafic réseau et état des conteneurs.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80003"/>
            <a:ext cx="123472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Déploiement Automatisé et Reproductibilité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36627"/>
            <a:ext cx="4205168" cy="4205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59981" y="2255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Chaîne DevOps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559981" y="2865239"/>
            <a:ext cx="4028599" cy="2547342"/>
          </a:xfrm>
          <a:prstGeom prst="roundRect">
            <a:avLst>
              <a:gd name="adj" fmla="val 5743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529501" y="2865239"/>
            <a:ext cx="121920" cy="2547342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</p:sp>
      <p:sp>
        <p:nvSpPr>
          <p:cNvPr id="7" name="Text 4"/>
          <p:cNvSpPr/>
          <p:nvPr/>
        </p:nvSpPr>
        <p:spPr>
          <a:xfrm>
            <a:off x="5908715" y="31225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Vagrant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908715" y="3703677"/>
            <a:ext cx="342257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Déploiement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automatique des machines virtuelles (Windows Server, Linux, équipements simulés).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9815393" y="2865239"/>
            <a:ext cx="4028718" cy="2547342"/>
          </a:xfrm>
          <a:prstGeom prst="roundRect">
            <a:avLst>
              <a:gd name="adj" fmla="val 5743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784913" y="2865239"/>
            <a:ext cx="121920" cy="2547342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</p:sp>
      <p:sp>
        <p:nvSpPr>
          <p:cNvPr id="11" name="Text 8"/>
          <p:cNvSpPr/>
          <p:nvPr/>
        </p:nvSpPr>
        <p:spPr>
          <a:xfrm>
            <a:off x="10164128" y="31225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PowerShell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164128" y="3703677"/>
            <a:ext cx="34226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Configuration complète : domaine AD, DHCP, NPS, GPO, VLANs — sans intervention manuelle.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5559981" y="5667732"/>
            <a:ext cx="8284131" cy="1326713"/>
          </a:xfrm>
          <a:prstGeom prst="roundRect">
            <a:avLst>
              <a:gd name="adj" fmla="val 2565"/>
            </a:avLst>
          </a:prstGeom>
          <a:solidFill>
            <a:srgbClr val="B6FCB8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6795" y="5996583"/>
            <a:ext cx="283488" cy="22681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297097" y="5951220"/>
            <a:ext cx="732020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Résultat : déploiement rapide, sans erreur humaine, entièrement reproductible à l'identique.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EE8D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1393" y="587097"/>
            <a:ext cx="5291495" cy="70554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2228" y="589717"/>
            <a:ext cx="7779544" cy="1218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Stratégie de Sécurisation Multi-couches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682228" y="2059186"/>
            <a:ext cx="3806071" cy="3286482"/>
          </a:xfrm>
          <a:prstGeom prst="roundRect">
            <a:avLst>
              <a:gd name="adj" fmla="val 890"/>
            </a:avLst>
          </a:prstGeom>
          <a:solidFill>
            <a:srgbClr val="EEE8DD"/>
          </a:solidFill>
          <a:ln/>
        </p:spPr>
      </p:sp>
      <p:sp>
        <p:nvSpPr>
          <p:cNvPr id="6" name="Shape 3"/>
          <p:cNvSpPr/>
          <p:nvPr/>
        </p:nvSpPr>
        <p:spPr>
          <a:xfrm>
            <a:off x="877133" y="2254091"/>
            <a:ext cx="584716" cy="584716"/>
          </a:xfrm>
          <a:prstGeom prst="roundRect">
            <a:avLst>
              <a:gd name="adj" fmla="val 15636797"/>
            </a:avLst>
          </a:prstGeom>
          <a:solidFill>
            <a:srgbClr val="D3C5B6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7868" y="2414826"/>
            <a:ext cx="263128" cy="2631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7133" y="3006209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Couche Réseau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877133" y="3411260"/>
            <a:ext cx="3416260" cy="1159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Segmentation VLAN + </a:t>
            </a:r>
            <a:r>
              <a:rPr lang="en-US" sz="15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ACLs</a:t>
            </a: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(</a:t>
            </a:r>
            <a:r>
              <a:rPr lang="en-US" sz="1500" i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Access Control Lists</a:t>
            </a: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) Cisco : filtrage des flux entre segments et restriction des communications non autorisées.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655701" y="2059186"/>
            <a:ext cx="3806071" cy="3286482"/>
          </a:xfrm>
          <a:prstGeom prst="roundRect">
            <a:avLst>
              <a:gd name="adj" fmla="val 890"/>
            </a:avLst>
          </a:prstGeom>
          <a:solidFill>
            <a:srgbClr val="EEE8DD"/>
          </a:solidFill>
          <a:ln/>
        </p:spPr>
      </p:sp>
      <p:sp>
        <p:nvSpPr>
          <p:cNvPr id="11" name="Shape 7"/>
          <p:cNvSpPr/>
          <p:nvPr/>
        </p:nvSpPr>
        <p:spPr>
          <a:xfrm>
            <a:off x="4850606" y="2254091"/>
            <a:ext cx="584716" cy="584716"/>
          </a:xfrm>
          <a:prstGeom prst="roundRect">
            <a:avLst>
              <a:gd name="adj" fmla="val 15636797"/>
            </a:avLst>
          </a:prstGeom>
          <a:solidFill>
            <a:srgbClr val="D3C5B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11341" y="2414826"/>
            <a:ext cx="263128" cy="2631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50606" y="3006209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Couche Système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4850606" y="3411260"/>
            <a:ext cx="3416260" cy="1739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Pare-feu Windows activé + </a:t>
            </a:r>
            <a:r>
              <a:rPr lang="en-US" sz="15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SMB Signing</a:t>
            </a: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(</a:t>
            </a:r>
            <a:r>
              <a:rPr lang="en-US" sz="1500" i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Server Message Block Signing</a:t>
            </a: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) : signature cryptographique des échanges de fichiers, prévenant les attaques par relais (Man-in-the-Middle).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82228" y="5513070"/>
            <a:ext cx="7779544" cy="2126813"/>
          </a:xfrm>
          <a:prstGeom prst="roundRect">
            <a:avLst>
              <a:gd name="adj" fmla="val 1375"/>
            </a:avLst>
          </a:prstGeom>
          <a:solidFill>
            <a:srgbClr val="EEE8DD"/>
          </a:solidFill>
          <a:ln/>
        </p:spPr>
      </p:sp>
      <p:sp>
        <p:nvSpPr>
          <p:cNvPr id="16" name="Shape 11"/>
          <p:cNvSpPr/>
          <p:nvPr/>
        </p:nvSpPr>
        <p:spPr>
          <a:xfrm>
            <a:off x="877133" y="5707975"/>
            <a:ext cx="584716" cy="584716"/>
          </a:xfrm>
          <a:prstGeom prst="roundRect">
            <a:avLst>
              <a:gd name="adj" fmla="val 15636797"/>
            </a:avLst>
          </a:prstGeom>
          <a:solidFill>
            <a:srgbClr val="D3C5B6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7868" y="5868710"/>
            <a:ext cx="263128" cy="2631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77133" y="6460093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Couche Accès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877133" y="6865144"/>
            <a:ext cx="7389733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Authentification 802.1X + VLAN de Quarantaine : isolation automatique des équipements non conformes ou non authentifiés.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674251"/>
            <a:ext cx="9452134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Résultats et Compétences Acquises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69025" y="1896308"/>
            <a:ext cx="6413182" cy="725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700"/>
              </a:lnSpc>
              <a:buNone/>
            </a:pPr>
            <a:r>
              <a:rPr lang="en-US" sz="57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6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2602230" y="2890718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VLANs déployés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769025" y="3361611"/>
            <a:ext cx="6413182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Segmentation complète de l'infrastructure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448193" y="1896308"/>
            <a:ext cx="6413182" cy="725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700"/>
              </a:lnSpc>
              <a:buNone/>
            </a:pPr>
            <a:r>
              <a:rPr lang="en-US" sz="57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9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9281398" y="2890718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Services Docker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7448193" y="3361611"/>
            <a:ext cx="6413182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GLPI, Nextcloud, WireGuard, Grafana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69025" y="4243149"/>
            <a:ext cx="6413182" cy="725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700"/>
              </a:lnSpc>
              <a:buNone/>
            </a:pPr>
            <a:r>
              <a:rPr lang="en-US" sz="57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100%</a:t>
            </a:r>
            <a:endParaRPr lang="en-US" sz="5700" dirty="0"/>
          </a:p>
        </p:txBody>
      </p:sp>
      <p:sp>
        <p:nvSpPr>
          <p:cNvPr id="10" name="Text 8"/>
          <p:cNvSpPr/>
          <p:nvPr/>
        </p:nvSpPr>
        <p:spPr>
          <a:xfrm>
            <a:off x="2602230" y="5237559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Automatisé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769025" y="5708452"/>
            <a:ext cx="6413182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Déploiement reproductible via Vagrant &amp; PowerShell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448193" y="4243149"/>
            <a:ext cx="6413182" cy="725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700"/>
              </a:lnSpc>
              <a:buNone/>
            </a:pPr>
            <a:r>
              <a:rPr lang="en-US" sz="57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</a:t>
            </a:r>
            <a:endParaRPr lang="en-US" sz="5700" dirty="0"/>
          </a:p>
        </p:txBody>
      </p:sp>
      <p:sp>
        <p:nvSpPr>
          <p:cNvPr id="13" name="Text 11"/>
          <p:cNvSpPr/>
          <p:nvPr/>
        </p:nvSpPr>
        <p:spPr>
          <a:xfrm>
            <a:off x="9281398" y="5237559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Couches de sécurité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7448193" y="5708452"/>
            <a:ext cx="6413182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Réseau, Système, Accès — défense en profondeur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69025" y="6294001"/>
            <a:ext cx="13092351" cy="1261229"/>
          </a:xfrm>
          <a:prstGeom prst="roundRect">
            <a:avLst>
              <a:gd name="adj" fmla="val 2613"/>
            </a:avLst>
          </a:prstGeom>
          <a:solidFill>
            <a:srgbClr val="E2D9CF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695" y="6612493"/>
            <a:ext cx="274558" cy="21967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82923" y="6561653"/>
            <a:ext cx="12158782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  Infrastructure </a:t>
            </a:r>
            <a:r>
              <a:rPr lang="en-US" sz="1700" b="1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100% opérationnelle</a:t>
            </a:r>
            <a:r>
              <a:rPr lang="en-US" sz="17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en environnement de test, intégrant Réseau, Système et Sécurité selon les standards professionnels actuels.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611</Words>
  <Application>Microsoft Office PowerPoint</Application>
  <PresentationFormat>Personnalisé</PresentationFormat>
  <Paragraphs>86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Gelasio</vt:lpstr>
      <vt:lpstr>Arial</vt:lpstr>
      <vt:lpstr>Gelasio Semi 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Nedjmedine BELLOUM</cp:lastModifiedBy>
  <cp:revision>2</cp:revision>
  <dcterms:created xsi:type="dcterms:W3CDTF">2026-04-24T10:08:39Z</dcterms:created>
  <dcterms:modified xsi:type="dcterms:W3CDTF">2026-04-24T12:50:14Z</dcterms:modified>
</cp:coreProperties>
</file>